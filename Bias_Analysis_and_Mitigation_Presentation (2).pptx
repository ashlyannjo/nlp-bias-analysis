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4" roundtripDataSignature="AMtx7miZwQ6WLWxL7T8SUxLEEfM29n6n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Welcome everyone. I’m Ashly Ann Jo, a research scholar at the FACTS-H Lab. Today, we’ll explore how bias can creep into Natural Language Processing (NLP) systems, how we can detect it, and most importantly, how we can reduce or remove it. Our focus will be practical and research-driven, with a real-world case study at the end.</a:t>
            </a:r>
            <a:endParaRPr/>
          </a:p>
          <a:p>
            <a:pPr indent="0" lvl="0" marL="0" rtl="0" algn="l">
              <a:spcBef>
                <a:spcPts val="1200"/>
              </a:spcBef>
              <a:spcAft>
                <a:spcPts val="0"/>
              </a:spcAft>
              <a:buNone/>
            </a:pPr>
            <a:r>
              <a:t/>
            </a:r>
            <a:endParaRPr/>
          </a:p>
        </p:txBody>
      </p:sp>
      <p:sp>
        <p:nvSpPr>
          <p:cNvPr id="58" name="Google Shape;5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 Here’s a quick overview of what we’ll cover:</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What is bias in NLP and why it matters.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How bias appears in word embeddings.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Methods to detect gender, racial, and religious bias.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How modern models like BERT show contextual bias.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Techniques to reduce or eliminate bias.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 case study in sentiment analysis and fairness.</a:t>
            </a:r>
            <a:br>
              <a:rPr lang="en-US">
                <a:solidFill>
                  <a:schemeClr val="dk1"/>
                </a:solidFill>
              </a:rPr>
            </a:br>
            <a:r>
              <a:rPr lang="en-US">
                <a:solidFill>
                  <a:schemeClr val="dk1"/>
                </a:solidFill>
              </a:rPr>
              <a:t> We’ll finish with a hands-on session to apply what we learn.</a:t>
            </a:r>
            <a:br>
              <a:rPr lang="en-US">
                <a:solidFill>
                  <a:schemeClr val="dk1"/>
                </a:solidFill>
              </a:rPr>
            </a:br>
            <a:endParaRPr>
              <a:solidFill>
                <a:schemeClr val="dk1"/>
              </a:solidFill>
            </a:endParaRPr>
          </a:p>
          <a:p>
            <a:pPr indent="0" lvl="0" marL="0" rtl="0" algn="l">
              <a:spcBef>
                <a:spcPts val="1200"/>
              </a:spcBef>
              <a:spcAft>
                <a:spcPts val="0"/>
              </a:spcAft>
              <a:buNone/>
            </a:pPr>
            <a:r>
              <a:t/>
            </a:r>
            <a:endParaRPr/>
          </a:p>
        </p:txBody>
      </p:sp>
      <p:sp>
        <p:nvSpPr>
          <p:cNvPr id="65" name="Google Shape;6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NLP models learn by looking at lots of text from the internet and people. But human language often includes hidden biases and stereotypes. So, when the model learns from this data, it also picks up those biases. This can lead to unfair or biased results. That’s why it’s important to find and fix these problems—so our NLP systems are fair and trustworthy.</a:t>
            </a:r>
            <a:endParaRPr/>
          </a:p>
        </p:txBody>
      </p:sp>
      <p:sp>
        <p:nvSpPr>
          <p:cNvPr id="71" name="Google Shape;7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different types of bias that can show up in NLP: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Gender bias</a:t>
            </a:r>
            <a:r>
              <a:rPr lang="en-US">
                <a:solidFill>
                  <a:schemeClr val="dk1"/>
                </a:solidFill>
              </a:rPr>
              <a:t>: For example, the word "doctor" is often linked with "male", and "nurse" with "female", even though either profession can belong to any gender.</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Racial bias</a:t>
            </a:r>
            <a:r>
              <a:rPr lang="en-US">
                <a:solidFill>
                  <a:schemeClr val="dk1"/>
                </a:solidFill>
              </a:rPr>
              <a:t>: Words like "criminal" might be associated more with "black"—this is clearly problematic.</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Religious bias</a:t>
            </a:r>
            <a:r>
              <a:rPr lang="en-US">
                <a:solidFill>
                  <a:schemeClr val="dk1"/>
                </a:solidFill>
              </a:rPr>
              <a:t>: Terms like "terrorist" are often unfairly linked with "Muslim".</a:t>
            </a:r>
            <a:br>
              <a:rPr lang="en-US">
                <a:solidFill>
                  <a:schemeClr val="dk1"/>
                </a:solidFill>
              </a:rPr>
            </a:br>
            <a:r>
              <a:rPr lang="en-US">
                <a:solidFill>
                  <a:schemeClr val="dk1"/>
                </a:solidFill>
              </a:rPr>
              <a:t> These stereotypes can reinforce harmful assumptions when NLP systems are used in real-world applications.</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80" name="Google Shape;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measure bias, we use a method called </a:t>
            </a:r>
            <a:r>
              <a:rPr b="1" lang="en-US">
                <a:solidFill>
                  <a:schemeClr val="dk1"/>
                </a:solidFill>
              </a:rPr>
              <a:t>WEAT</a:t>
            </a:r>
            <a:r>
              <a:rPr lang="en-US">
                <a:solidFill>
                  <a:schemeClr val="dk1"/>
                </a:solidFill>
              </a:rPr>
              <a:t>—the Word Embedding Association Test. It works like this: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We take two groups of target words, say, professions like "engineer", "nurse", etc.</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Then we compare how similar these words are—mathematically—using </a:t>
            </a:r>
            <a:r>
              <a:rPr b="1" lang="en-US">
                <a:solidFill>
                  <a:schemeClr val="dk1"/>
                </a:solidFill>
              </a:rPr>
              <a:t>cosine similarity</a:t>
            </a:r>
            <a:r>
              <a:rPr lang="en-US">
                <a:solidFill>
                  <a:schemeClr val="dk1"/>
                </a:solidFill>
              </a:rPr>
              <a:t> to gendered terms like "he" and "she".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If professions are more similar to male terms than female ones, that’s evidence of gender bias.</a:t>
            </a:r>
            <a:br>
              <a:rPr lang="en-US">
                <a:solidFill>
                  <a:schemeClr val="dk1"/>
                </a:solidFill>
              </a:rPr>
            </a:br>
            <a:r>
              <a:rPr lang="en-US">
                <a:solidFill>
                  <a:schemeClr val="dk1"/>
                </a:solidFill>
              </a:rPr>
              <a:t> This gives us a way to quantify bias in word embeddings.</a:t>
            </a:r>
            <a:endParaRPr>
              <a:solidFill>
                <a:schemeClr val="dk1"/>
              </a:solidFill>
            </a:endParaRPr>
          </a:p>
          <a:p>
            <a:pPr indent="0" lvl="0" marL="0" rtl="0" algn="l">
              <a:spcBef>
                <a:spcPts val="1200"/>
              </a:spcBef>
              <a:spcAft>
                <a:spcPts val="0"/>
              </a:spcAft>
              <a:buNone/>
            </a:pPr>
            <a:r>
              <a:t/>
            </a:r>
            <a:endParaRPr/>
          </a:p>
        </p:txBody>
      </p:sp>
      <p:sp>
        <p:nvSpPr>
          <p:cNvPr id="87" name="Google Shape;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Once we detect bias, we can try to fix it. Here are three main techniques: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a:solidFill>
                  <a:schemeClr val="dk1"/>
                </a:solidFill>
              </a:rPr>
              <a:t>Neutralize</a:t>
            </a:r>
            <a:r>
              <a:rPr lang="en-US">
                <a:solidFill>
                  <a:schemeClr val="dk1"/>
                </a:solidFill>
              </a:rPr>
              <a:t> – This removes gender information from words that shouldn’t have it. For instance, the word "doctor" should be neutral, not skewed toward male or female.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Equalize</a:t>
            </a:r>
            <a:r>
              <a:rPr lang="en-US">
                <a:solidFill>
                  <a:schemeClr val="dk1"/>
                </a:solidFill>
              </a:rPr>
              <a:t> – This aligns gendered word pairs like "king" and "queen" so they’re treated equally in the embedding space.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Adversarial Debiasing</a:t>
            </a:r>
            <a:r>
              <a:rPr lang="en-US">
                <a:solidFill>
                  <a:schemeClr val="dk1"/>
                </a:solidFill>
              </a:rPr>
              <a:t> – This is a machine learning technique that trains the model to minimize its dependence on biased patterns in the data.</a:t>
            </a:r>
            <a:br>
              <a:rPr lang="en-US">
                <a:solidFill>
                  <a:schemeClr val="dk1"/>
                </a:solidFill>
              </a:rPr>
            </a:br>
            <a:r>
              <a:rPr lang="en-US">
                <a:solidFill>
                  <a:schemeClr val="dk1"/>
                </a:solidFill>
              </a:rPr>
              <a:t> Each of these techniques has pros and cons depending on the task.</a:t>
            </a:r>
            <a:br>
              <a:rPr lang="en-US">
                <a:solidFill>
                  <a:schemeClr val="dk1"/>
                </a:solidFill>
              </a:rPr>
            </a:br>
            <a:endParaRPr>
              <a:solidFill>
                <a:schemeClr val="dk1"/>
              </a:solidFill>
            </a:endParaRPr>
          </a:p>
          <a:p>
            <a:pPr indent="0" lvl="0" marL="0" rtl="0" algn="l">
              <a:spcBef>
                <a:spcPts val="1200"/>
              </a:spcBef>
              <a:spcAft>
                <a:spcPts val="0"/>
              </a:spcAft>
              <a:buNone/>
            </a:pPr>
            <a:r>
              <a:t/>
            </a:r>
            <a:endParaRPr/>
          </a:p>
        </p:txBody>
      </p:sp>
      <p:sp>
        <p:nvSpPr>
          <p:cNvPr id="93" name="Google Shape;9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We took a dataset with gender-labeled text and applied a bias mitigation technique to the word embeddings.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Then we ran sentiment analysis using </a:t>
            </a:r>
            <a:r>
              <a:rPr b="1" lang="en-US">
                <a:solidFill>
                  <a:schemeClr val="dk1"/>
                </a:solidFill>
              </a:rPr>
              <a:t>TextBlob</a:t>
            </a:r>
            <a:r>
              <a:rPr lang="en-US">
                <a:solidFill>
                  <a:schemeClr val="dk1"/>
                </a:solidFill>
              </a:rPr>
              <a:t> before and after bias correction.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goal was to see if the sentiment scores were affected by gender terms—and whether our mitigation helped remove that bias.</a:t>
            </a:r>
            <a:endParaRPr>
              <a:solidFill>
                <a:schemeClr val="dk1"/>
              </a:solidFill>
            </a:endParaRPr>
          </a:p>
          <a:p>
            <a:pPr indent="0" lvl="0" marL="0" rtl="0" algn="l">
              <a:spcBef>
                <a:spcPts val="0"/>
              </a:spcBef>
              <a:spcAft>
                <a:spcPts val="0"/>
              </a:spcAft>
              <a:buNone/>
            </a:pPr>
            <a:r>
              <a:rPr lang="en-US">
                <a:solidFill>
                  <a:schemeClr val="dk1"/>
                </a:solidFill>
              </a:rPr>
              <a:t>This case study shows how bias correction can improve fairness in real applications.</a:t>
            </a:r>
            <a:endParaRPr/>
          </a:p>
        </p:txBody>
      </p:sp>
      <p:sp>
        <p:nvSpPr>
          <p:cNvPr id="99" name="Google Shape;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bf9e355b2_1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bf9e355b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two parts: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a:solidFill>
                  <a:schemeClr val="dk1"/>
                </a:solidFill>
              </a:rPr>
              <a:t>Combined Bias Analysis</a:t>
            </a:r>
            <a:r>
              <a:rPr lang="en-US">
                <a:solidFill>
                  <a:schemeClr val="dk1"/>
                </a:solidFill>
              </a:rPr>
              <a:t> – where we’ll see how different types of bias can overlap.</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Bias Mitigation in NLP</a:t>
            </a:r>
            <a:r>
              <a:rPr lang="en-US">
                <a:solidFill>
                  <a:schemeClr val="dk1"/>
                </a:solidFill>
              </a:rPr>
              <a:t> – where you’ll apply some of the techniques we discussed today.</a:t>
            </a:r>
            <a:br>
              <a:rPr lang="en-US">
                <a:solidFill>
                  <a:schemeClr val="dk1"/>
                </a:solidFill>
              </a:rPr>
            </a:br>
            <a:r>
              <a:rPr lang="en-US">
                <a:solidFill>
                  <a:schemeClr val="dk1"/>
                </a:solidFill>
              </a:rPr>
              <a:t> This will help reinforce the concepts and give you experience working with real data and tools.</a:t>
            </a:r>
            <a:br>
              <a:rPr lang="en-US">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6bf9e355b2_0_2501"/>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g36bf9e355b2_0_2501"/>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6bf9e355b2_0_250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6bf9e355b2_0_2505"/>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g36bf9e355b2_0_250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6bf9e355b2_0_2508"/>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g36bf9e355b2_0_250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g36bf9e355b2_0_250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6bf9e355b2_0_2512"/>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6bf9e355b2_0_2512"/>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g36bf9e355b2_0_2512"/>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g36bf9e355b2_0_25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6bf9e355b2_0_2517"/>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g36bf9e355b2_0_251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6bf9e355b2_0_2520"/>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g36bf9e355b2_0_2520"/>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36bf9e355b2_0_252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6bf9e355b2_0_2524"/>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g36bf9e355b2_0_252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6bf9e355b2_0_2527"/>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6bf9e355b2_0_2527"/>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g36bf9e355b2_0_2527"/>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6bf9e355b2_0_2527"/>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g36bf9e355b2_0_252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6bf9e355b2_0_2533"/>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g36bf9e355b2_0_253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6bf9e355b2_0_2536"/>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6bf9e355b2_0_2536"/>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g36bf9e355b2_0_253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6bf9e355b2_0_254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6bf9e355b2_0_25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g36bf9e355b2_0_254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g36bf9e355b2_0_254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g36bf9e355b2_0_254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g36bf9e355b2_0_254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6bf9e355b2_0_249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6bf9e355b2_0_249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6bf9e355b2_0_249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colab.research.google.com/drive/1mgp40ERn5I7CLQ8OpbxiDtBlEJ4SJZYm?usp=sharing" TargetMode="External"/><Relationship Id="rId4" Type="http://schemas.openxmlformats.org/officeDocument/2006/relationships/hyperlink" Target="https://colab.research.google.com/drive/1i2HqU_gNATzjPuMCFvqVOxn0S08xlUol?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59" name="Shape 59"/>
        <p:cNvGrpSpPr/>
        <p:nvPr/>
      </p:nvGrpSpPr>
      <p:grpSpPr>
        <a:xfrm>
          <a:off x="0" y="0"/>
          <a:ext cx="0" cy="0"/>
          <a:chOff x="0" y="0"/>
          <a:chExt cx="0" cy="0"/>
        </a:xfrm>
      </p:grpSpPr>
      <p:sp>
        <p:nvSpPr>
          <p:cNvPr id="60" name="Google Shape;60;p1"/>
          <p:cNvSpPr txBox="1"/>
          <p:nvPr>
            <p:ph type="ctrTitle"/>
          </p:nvPr>
        </p:nvSpPr>
        <p:spPr>
          <a:xfrm>
            <a:off x="311700" y="147475"/>
            <a:ext cx="8520600" cy="358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i="1" lang="en-US" sz="4400">
                <a:solidFill>
                  <a:schemeClr val="dk1"/>
                </a:solidFill>
                <a:latin typeface="Times New Roman"/>
                <a:ea typeface="Times New Roman"/>
                <a:cs typeface="Times New Roman"/>
                <a:sym typeface="Times New Roman"/>
              </a:rPr>
              <a:t>Bias Analysis &amp; Mitigation in NLP</a:t>
            </a:r>
            <a:endParaRPr b="1" i="1">
              <a:latin typeface="Times New Roman"/>
              <a:ea typeface="Times New Roman"/>
              <a:cs typeface="Times New Roman"/>
              <a:sym typeface="Times New Roman"/>
            </a:endParaRPr>
          </a:p>
        </p:txBody>
      </p:sp>
      <p:sp>
        <p:nvSpPr>
          <p:cNvPr id="61" name="Google Shape;61;p1"/>
          <p:cNvSpPr txBox="1"/>
          <p:nvPr>
            <p:ph idx="1" type="subTitle"/>
          </p:nvPr>
        </p:nvSpPr>
        <p:spPr>
          <a:xfrm>
            <a:off x="311700" y="2590175"/>
            <a:ext cx="8520600" cy="1954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spcBef>
                <a:spcPts val="0"/>
              </a:spcBef>
              <a:spcAft>
                <a:spcPts val="0"/>
              </a:spcAft>
              <a:buClr>
                <a:srgbClr val="888888"/>
              </a:buClr>
              <a:buSzPct val="114285"/>
              <a:buNone/>
            </a:pPr>
            <a:r>
              <a:rPr lang="en-US">
                <a:solidFill>
                  <a:srgbClr val="274E13"/>
                </a:solidFill>
                <a:latin typeface="Times New Roman"/>
                <a:ea typeface="Times New Roman"/>
                <a:cs typeface="Times New Roman"/>
                <a:sym typeface="Times New Roman"/>
              </a:rPr>
              <a:t>Understanding and Addressing Bias </a:t>
            </a:r>
            <a:endParaRPr>
              <a:solidFill>
                <a:srgbClr val="274E13"/>
              </a:solidFill>
              <a:latin typeface="Times New Roman"/>
              <a:ea typeface="Times New Roman"/>
              <a:cs typeface="Times New Roman"/>
              <a:sym typeface="Times New Roman"/>
            </a:endParaRPr>
          </a:p>
          <a:p>
            <a:pPr indent="0" lvl="0" marL="0" rtl="0" algn="ctr">
              <a:spcBef>
                <a:spcPts val="0"/>
              </a:spcBef>
              <a:spcAft>
                <a:spcPts val="0"/>
              </a:spcAft>
              <a:buClr>
                <a:srgbClr val="888888"/>
              </a:buClr>
              <a:buSzPct val="114285"/>
              <a:buNone/>
            </a:pPr>
            <a:r>
              <a:rPr lang="en-US">
                <a:solidFill>
                  <a:srgbClr val="274E13"/>
                </a:solidFill>
                <a:latin typeface="Times New Roman"/>
                <a:ea typeface="Times New Roman"/>
                <a:cs typeface="Times New Roman"/>
                <a:sym typeface="Times New Roman"/>
              </a:rPr>
              <a:t>in Language Models</a:t>
            </a:r>
            <a:endParaRPr>
              <a:solidFill>
                <a:srgbClr val="274E13"/>
              </a:solidFill>
              <a:latin typeface="Times New Roman"/>
              <a:ea typeface="Times New Roman"/>
              <a:cs typeface="Times New Roman"/>
              <a:sym typeface="Times New Roman"/>
            </a:endParaRPr>
          </a:p>
          <a:p>
            <a:pPr indent="0" lvl="0" marL="0" rtl="0" algn="ctr">
              <a:spcBef>
                <a:spcPts val="0"/>
              </a:spcBef>
              <a:spcAft>
                <a:spcPts val="0"/>
              </a:spcAft>
              <a:buClr>
                <a:srgbClr val="888888"/>
              </a:buClr>
              <a:buSzPct val="114285"/>
              <a:buNone/>
            </a:pPr>
            <a:r>
              <a:t/>
            </a:r>
            <a:endParaRPr>
              <a:solidFill>
                <a:srgbClr val="274E13"/>
              </a:solidFill>
              <a:latin typeface="Times New Roman"/>
              <a:ea typeface="Times New Roman"/>
              <a:cs typeface="Times New Roman"/>
              <a:sym typeface="Times New Roman"/>
            </a:endParaRPr>
          </a:p>
          <a:p>
            <a:pPr indent="0" lvl="0" marL="0" rtl="0" algn="ctr">
              <a:spcBef>
                <a:spcPts val="0"/>
              </a:spcBef>
              <a:spcAft>
                <a:spcPts val="0"/>
              </a:spcAft>
              <a:buClr>
                <a:srgbClr val="888888"/>
              </a:buClr>
              <a:buSzPct val="114285"/>
              <a:buNone/>
            </a:pPr>
            <a:r>
              <a:rPr lang="en-US">
                <a:solidFill>
                  <a:srgbClr val="DD7E6B"/>
                </a:solidFill>
                <a:latin typeface="Times New Roman"/>
                <a:ea typeface="Times New Roman"/>
                <a:cs typeface="Times New Roman"/>
                <a:sym typeface="Times New Roman"/>
              </a:rPr>
              <a:t>Ashly Ann Jo</a:t>
            </a:r>
            <a:endParaRPr>
              <a:solidFill>
                <a:srgbClr val="DD7E6B"/>
              </a:solidFill>
              <a:latin typeface="Times New Roman"/>
              <a:ea typeface="Times New Roman"/>
              <a:cs typeface="Times New Roman"/>
              <a:sym typeface="Times New Roman"/>
            </a:endParaRPr>
          </a:p>
          <a:p>
            <a:pPr indent="0" lvl="0" marL="0" rtl="0" algn="ctr">
              <a:spcBef>
                <a:spcPts val="0"/>
              </a:spcBef>
              <a:spcAft>
                <a:spcPts val="0"/>
              </a:spcAft>
              <a:buClr>
                <a:srgbClr val="888888"/>
              </a:buClr>
              <a:buSzPct val="114285"/>
              <a:buNone/>
            </a:pPr>
            <a:r>
              <a:rPr lang="en-US">
                <a:solidFill>
                  <a:srgbClr val="DD7E6B"/>
                </a:solidFill>
                <a:latin typeface="Times New Roman"/>
                <a:ea typeface="Times New Roman"/>
                <a:cs typeface="Times New Roman"/>
                <a:sym typeface="Times New Roman"/>
              </a:rPr>
              <a:t>Research Scholar, FACTS-H Lab</a:t>
            </a:r>
            <a:endParaRPr>
              <a:solidFill>
                <a:srgbClr val="DD7E6B"/>
              </a:solidFill>
              <a:latin typeface="Times New Roman"/>
              <a:ea typeface="Times New Roman"/>
              <a:cs typeface="Times New Roman"/>
              <a:sym typeface="Times New Roman"/>
            </a:endParaRPr>
          </a:p>
          <a:p>
            <a:pPr indent="0" lvl="0" marL="0" rtl="0" algn="l">
              <a:spcBef>
                <a:spcPts val="0"/>
              </a:spcBef>
              <a:spcAft>
                <a:spcPts val="0"/>
              </a:spcAft>
              <a:buClr>
                <a:srgbClr val="888888"/>
              </a:buClr>
              <a:buSzPct val="114285"/>
              <a:buNone/>
            </a:pPr>
            <a:r>
              <a:t/>
            </a:r>
            <a:endParaRPr>
              <a:solidFill>
                <a:srgbClr val="DD7E6B"/>
              </a:solidFill>
              <a:latin typeface="Times New Roman"/>
              <a:ea typeface="Times New Roman"/>
              <a:cs typeface="Times New Roman"/>
              <a:sym typeface="Times New Roman"/>
            </a:endParaRPr>
          </a:p>
        </p:txBody>
      </p:sp>
      <p:pic>
        <p:nvPicPr>
          <p:cNvPr id="62" name="Google Shape;62;p1" title="FACTSH_black (2).png"/>
          <p:cNvPicPr preferRelativeResize="0"/>
          <p:nvPr/>
        </p:nvPicPr>
        <p:blipFill>
          <a:blip r:embed="rId3">
            <a:alphaModFix/>
          </a:blip>
          <a:stretch>
            <a:fillRect/>
          </a:stretch>
        </p:blipFill>
        <p:spPr>
          <a:xfrm>
            <a:off x="3437999" y="4756350"/>
            <a:ext cx="2059848" cy="20598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Times New Roman"/>
                <a:ea typeface="Times New Roman"/>
                <a:cs typeface="Times New Roman"/>
                <a:sym typeface="Times New Roman"/>
              </a:rPr>
              <a:t>Agenda</a:t>
            </a:r>
            <a:endParaRPr>
              <a:latin typeface="Times New Roman"/>
              <a:ea typeface="Times New Roman"/>
              <a:cs typeface="Times New Roman"/>
              <a:sym typeface="Times New Roman"/>
            </a:endParaRPr>
          </a:p>
        </p:txBody>
      </p:sp>
      <p:sp>
        <p:nvSpPr>
          <p:cNvPr id="68" name="Google Shape;68;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61950" lvl="0" marL="457200" rtl="0" algn="l">
              <a:lnSpc>
                <a:spcPct val="150000"/>
              </a:lnSpc>
              <a:spcBef>
                <a:spcPts val="0"/>
              </a:spcBef>
              <a:spcAft>
                <a:spcPts val="0"/>
              </a:spcAft>
              <a:buClr>
                <a:schemeClr val="dk1"/>
              </a:buClr>
              <a:buSzPts val="2100"/>
              <a:buFont typeface="Times New Roman"/>
              <a:buAutoNum type="arabicPeriod"/>
            </a:pPr>
            <a:r>
              <a:rPr lang="en-US" sz="2100">
                <a:solidFill>
                  <a:schemeClr val="dk1"/>
                </a:solidFill>
                <a:latin typeface="Times New Roman"/>
                <a:ea typeface="Times New Roman"/>
                <a:cs typeface="Times New Roman"/>
                <a:sym typeface="Times New Roman"/>
              </a:rPr>
              <a:t>Bias in Word Embeddings</a:t>
            </a:r>
            <a:endParaRPr sz="2100">
              <a:latin typeface="Times New Roman"/>
              <a:ea typeface="Times New Roman"/>
              <a:cs typeface="Times New Roman"/>
              <a:sym typeface="Times New Roman"/>
            </a:endParaRPr>
          </a:p>
          <a:p>
            <a:pPr indent="-361950" lvl="0" marL="457200" rtl="0" algn="l">
              <a:lnSpc>
                <a:spcPct val="150000"/>
              </a:lnSpc>
              <a:spcBef>
                <a:spcPts val="0"/>
              </a:spcBef>
              <a:spcAft>
                <a:spcPts val="0"/>
              </a:spcAft>
              <a:buClr>
                <a:schemeClr val="dk1"/>
              </a:buClr>
              <a:buSzPts val="2100"/>
              <a:buFont typeface="Times New Roman"/>
              <a:buAutoNum type="arabicPeriod"/>
            </a:pPr>
            <a:r>
              <a:rPr lang="en-US" sz="2100">
                <a:solidFill>
                  <a:schemeClr val="dk1"/>
                </a:solidFill>
                <a:latin typeface="Times New Roman"/>
                <a:ea typeface="Times New Roman"/>
                <a:cs typeface="Times New Roman"/>
                <a:sym typeface="Times New Roman"/>
              </a:rPr>
              <a:t>Detecting Gender, Racial &amp; Religious Bias</a:t>
            </a:r>
            <a:endParaRPr sz="2100">
              <a:latin typeface="Times New Roman"/>
              <a:ea typeface="Times New Roman"/>
              <a:cs typeface="Times New Roman"/>
              <a:sym typeface="Times New Roman"/>
            </a:endParaRPr>
          </a:p>
          <a:p>
            <a:pPr indent="-361950" lvl="0" marL="457200" rtl="0" algn="l">
              <a:lnSpc>
                <a:spcPct val="150000"/>
              </a:lnSpc>
              <a:spcBef>
                <a:spcPts val="0"/>
              </a:spcBef>
              <a:spcAft>
                <a:spcPts val="0"/>
              </a:spcAft>
              <a:buClr>
                <a:schemeClr val="dk1"/>
              </a:buClr>
              <a:buSzPts val="2100"/>
              <a:buFont typeface="Times New Roman"/>
              <a:buAutoNum type="arabicPeriod"/>
            </a:pPr>
            <a:r>
              <a:rPr lang="en-US" sz="2100">
                <a:solidFill>
                  <a:schemeClr val="dk1"/>
                </a:solidFill>
                <a:latin typeface="Times New Roman"/>
                <a:ea typeface="Times New Roman"/>
                <a:cs typeface="Times New Roman"/>
                <a:sym typeface="Times New Roman"/>
              </a:rPr>
              <a:t>Contextual Bias in BERT</a:t>
            </a:r>
            <a:endParaRPr sz="2100">
              <a:latin typeface="Times New Roman"/>
              <a:ea typeface="Times New Roman"/>
              <a:cs typeface="Times New Roman"/>
              <a:sym typeface="Times New Roman"/>
            </a:endParaRPr>
          </a:p>
          <a:p>
            <a:pPr indent="-361950" lvl="0" marL="457200" rtl="0" algn="l">
              <a:lnSpc>
                <a:spcPct val="150000"/>
              </a:lnSpc>
              <a:spcBef>
                <a:spcPts val="0"/>
              </a:spcBef>
              <a:spcAft>
                <a:spcPts val="0"/>
              </a:spcAft>
              <a:buClr>
                <a:schemeClr val="dk1"/>
              </a:buClr>
              <a:buSzPts val="2100"/>
              <a:buFont typeface="Times New Roman"/>
              <a:buAutoNum type="arabicPeriod"/>
            </a:pPr>
            <a:r>
              <a:rPr lang="en-US" sz="2100">
                <a:solidFill>
                  <a:schemeClr val="dk1"/>
                </a:solidFill>
                <a:latin typeface="Times New Roman"/>
                <a:ea typeface="Times New Roman"/>
                <a:cs typeface="Times New Roman"/>
                <a:sym typeface="Times New Roman"/>
              </a:rPr>
              <a:t>Bias Mitigation Techniques</a:t>
            </a:r>
            <a:endParaRPr sz="2100">
              <a:latin typeface="Times New Roman"/>
              <a:ea typeface="Times New Roman"/>
              <a:cs typeface="Times New Roman"/>
              <a:sym typeface="Times New Roman"/>
            </a:endParaRPr>
          </a:p>
          <a:p>
            <a:pPr indent="-361950" lvl="0" marL="457200" rtl="0" algn="l">
              <a:lnSpc>
                <a:spcPct val="150000"/>
              </a:lnSpc>
              <a:spcBef>
                <a:spcPts val="0"/>
              </a:spcBef>
              <a:spcAft>
                <a:spcPts val="0"/>
              </a:spcAft>
              <a:buClr>
                <a:schemeClr val="dk1"/>
              </a:buClr>
              <a:buSzPts val="2100"/>
              <a:buFont typeface="Times New Roman"/>
              <a:buAutoNum type="arabicPeriod"/>
            </a:pPr>
            <a:r>
              <a:rPr lang="en-US" sz="2100">
                <a:solidFill>
                  <a:schemeClr val="dk1"/>
                </a:solidFill>
                <a:latin typeface="Times New Roman"/>
                <a:ea typeface="Times New Roman"/>
                <a:cs typeface="Times New Roman"/>
                <a:sym typeface="Times New Roman"/>
              </a:rPr>
              <a:t>Case Study: Sentiment &amp; Fairness</a:t>
            </a:r>
            <a:endParaRPr sz="2100">
              <a:latin typeface="Times New Roman"/>
              <a:ea typeface="Times New Roman"/>
              <a:cs typeface="Times New Roman"/>
              <a:sym typeface="Times New Roman"/>
            </a:endParaRPr>
          </a:p>
          <a:p>
            <a:pPr indent="0" lvl="0" marL="0" rtl="0" algn="l">
              <a:lnSpc>
                <a:spcPct val="150000"/>
              </a:lnSpc>
              <a:spcBef>
                <a:spcPts val="640"/>
              </a:spcBef>
              <a:spcAft>
                <a:spcPts val="1200"/>
              </a:spcAft>
              <a:buNone/>
            </a:pPr>
            <a:r>
              <a:t/>
            </a:r>
            <a:endParaRPr sz="21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Times New Roman"/>
                <a:ea typeface="Times New Roman"/>
                <a:cs typeface="Times New Roman"/>
                <a:sym typeface="Times New Roman"/>
              </a:rPr>
              <a:t>Introduction to Bias in NLP</a:t>
            </a:r>
            <a:endParaRPr>
              <a:latin typeface="Times New Roman"/>
              <a:ea typeface="Times New Roman"/>
              <a:cs typeface="Times New Roman"/>
              <a:sym typeface="Times New Roman"/>
            </a:endParaRPr>
          </a:p>
        </p:txBody>
      </p:sp>
      <p:sp>
        <p:nvSpPr>
          <p:cNvPr id="74" name="Google Shape;74;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66700" lvl="0" marL="3429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NLP models learn from biased human data.</a:t>
            </a:r>
            <a:endParaRPr sz="2000">
              <a:latin typeface="Times New Roman"/>
              <a:ea typeface="Times New Roman"/>
              <a:cs typeface="Times New Roman"/>
              <a:sym typeface="Times New Roman"/>
            </a:endParaRPr>
          </a:p>
          <a:p>
            <a:pPr indent="-266700" lvl="0" marL="342900" rtl="0" algn="l">
              <a:lnSpc>
                <a:spcPct val="150000"/>
              </a:lnSpc>
              <a:spcBef>
                <a:spcPts val="64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Bias can lead to unfair or discriminatory outputs.</a:t>
            </a:r>
            <a:endParaRPr sz="2000">
              <a:latin typeface="Times New Roman"/>
              <a:ea typeface="Times New Roman"/>
              <a:cs typeface="Times New Roman"/>
              <a:sym typeface="Times New Roman"/>
            </a:endParaRPr>
          </a:p>
          <a:p>
            <a:pPr indent="-266700" lvl="0" marL="342900" rtl="0" algn="l">
              <a:lnSpc>
                <a:spcPct val="150000"/>
              </a:lnSpc>
              <a:spcBef>
                <a:spcPts val="64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Goal: Detect and mitigate unintended bias in NLP systems.</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sz="2000">
              <a:solidFill>
                <a:schemeClr val="dk1"/>
              </a:solidFill>
              <a:latin typeface="Times New Roman"/>
              <a:ea typeface="Times New Roman"/>
              <a:cs typeface="Times New Roman"/>
              <a:sym typeface="Times New Roman"/>
            </a:endParaRPr>
          </a:p>
        </p:txBody>
      </p:sp>
      <p:sp>
        <p:nvSpPr>
          <p:cNvPr id="75" name="Google Shape;75;p3"/>
          <p:cNvSpPr txBox="1"/>
          <p:nvPr>
            <p:ph type="title"/>
          </p:nvPr>
        </p:nvSpPr>
        <p:spPr>
          <a:xfrm>
            <a:off x="1698986" y="3134025"/>
            <a:ext cx="6167700" cy="621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Times New Roman"/>
                <a:ea typeface="Times New Roman"/>
                <a:cs typeface="Times New Roman"/>
                <a:sym typeface="Times New Roman"/>
              </a:rPr>
              <a:t>Introduction to Bias in NLP</a:t>
            </a:r>
            <a:endParaRPr>
              <a:latin typeface="Times New Roman"/>
              <a:ea typeface="Times New Roman"/>
              <a:cs typeface="Times New Roman"/>
              <a:sym typeface="Times New Roman"/>
            </a:endParaRPr>
          </a:p>
        </p:txBody>
      </p:sp>
      <p:sp>
        <p:nvSpPr>
          <p:cNvPr id="76" name="Google Shape;76;p3"/>
          <p:cNvSpPr txBox="1"/>
          <p:nvPr>
            <p:ph idx="1" type="body"/>
          </p:nvPr>
        </p:nvSpPr>
        <p:spPr>
          <a:xfrm>
            <a:off x="1698986" y="3854796"/>
            <a:ext cx="6167700" cy="2460900"/>
          </a:xfrm>
          <a:prstGeom prst="rect">
            <a:avLst/>
          </a:prstGeom>
          <a:noFill/>
          <a:ln>
            <a:noFill/>
          </a:ln>
        </p:spPr>
        <p:txBody>
          <a:bodyPr anchorCtr="0" anchor="t" bIns="45700" lIns="91425" spcFirstLastPara="1" rIns="91425" wrap="square" tIns="45700">
            <a:normAutofit/>
          </a:bodyPr>
          <a:lstStyle/>
          <a:p>
            <a:pPr indent="-266700" lvl="0" marL="3429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NLP models learn from biased human data.</a:t>
            </a:r>
            <a:endParaRPr sz="2000">
              <a:latin typeface="Times New Roman"/>
              <a:ea typeface="Times New Roman"/>
              <a:cs typeface="Times New Roman"/>
              <a:sym typeface="Times New Roman"/>
            </a:endParaRPr>
          </a:p>
          <a:p>
            <a:pPr indent="-266700" lvl="0" marL="342900" rtl="0" algn="l">
              <a:lnSpc>
                <a:spcPct val="150000"/>
              </a:lnSpc>
              <a:spcBef>
                <a:spcPts val="64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Bias can lead to unfair or discriminatory outputs.</a:t>
            </a:r>
            <a:endParaRPr sz="2000">
              <a:latin typeface="Times New Roman"/>
              <a:ea typeface="Times New Roman"/>
              <a:cs typeface="Times New Roman"/>
              <a:sym typeface="Times New Roman"/>
            </a:endParaRPr>
          </a:p>
          <a:p>
            <a:pPr indent="-266700" lvl="0" marL="342900" rtl="0" algn="l">
              <a:lnSpc>
                <a:spcPct val="150000"/>
              </a:lnSpc>
              <a:spcBef>
                <a:spcPts val="640"/>
              </a:spcBef>
              <a:spcAft>
                <a:spcPts val="120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Goal: Detect and mitigate unintended bias in NLP systems.</a:t>
            </a:r>
            <a:endParaRPr sz="2000">
              <a:latin typeface="Times New Roman"/>
              <a:ea typeface="Times New Roman"/>
              <a:cs typeface="Times New Roman"/>
              <a:sym typeface="Times New Roman"/>
            </a:endParaRPr>
          </a:p>
        </p:txBody>
      </p:sp>
      <p:pic>
        <p:nvPicPr>
          <p:cNvPr id="77" name="Google Shape;77;p3"/>
          <p:cNvPicPr preferRelativeResize="0"/>
          <p:nvPr/>
        </p:nvPicPr>
        <p:blipFill>
          <a:blip r:embed="rId3">
            <a:alphaModFix/>
          </a:blip>
          <a:stretch>
            <a:fillRect/>
          </a:stretch>
        </p:blipFill>
        <p:spPr>
          <a:xfrm>
            <a:off x="1698975" y="3179550"/>
            <a:ext cx="6560124" cy="35050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Times New Roman"/>
                <a:ea typeface="Times New Roman"/>
                <a:cs typeface="Times New Roman"/>
                <a:sym typeface="Times New Roman"/>
              </a:rPr>
              <a:t>Types of Bias in NLP</a:t>
            </a:r>
            <a:endParaRPr>
              <a:latin typeface="Times New Roman"/>
              <a:ea typeface="Times New Roman"/>
              <a:cs typeface="Times New Roman"/>
              <a:sym typeface="Times New Roman"/>
            </a:endParaRPr>
          </a:p>
        </p:txBody>
      </p:sp>
      <p:sp>
        <p:nvSpPr>
          <p:cNvPr id="83" name="Google Shape;8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92100" lvl="0" marL="34290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Gender Bias – e.g., doctor → male, nurse → female</a:t>
            </a:r>
            <a:endParaRPr sz="2400">
              <a:latin typeface="Times New Roman"/>
              <a:ea typeface="Times New Roman"/>
              <a:cs typeface="Times New Roman"/>
              <a:sym typeface="Times New Roman"/>
            </a:endParaRPr>
          </a:p>
          <a:p>
            <a:pPr indent="-292100" lvl="0" marL="342900" rtl="0" algn="l">
              <a:spcBef>
                <a:spcPts val="64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Racial Bias – e.g., criminal associated with 'black'</a:t>
            </a:r>
            <a:endParaRPr sz="2400">
              <a:latin typeface="Times New Roman"/>
              <a:ea typeface="Times New Roman"/>
              <a:cs typeface="Times New Roman"/>
              <a:sym typeface="Times New Roman"/>
            </a:endParaRPr>
          </a:p>
          <a:p>
            <a:pPr indent="-292100" lvl="0" marL="342900" rtl="0" algn="l">
              <a:spcBef>
                <a:spcPts val="64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Religious Bias – e.g., terrorist linked with 'muslim'</a:t>
            </a:r>
            <a:endParaRPr sz="2400">
              <a:solidFill>
                <a:schemeClr val="dk1"/>
              </a:solidFill>
              <a:latin typeface="Times New Roman"/>
              <a:ea typeface="Times New Roman"/>
              <a:cs typeface="Times New Roman"/>
              <a:sym typeface="Times New Roman"/>
            </a:endParaRPr>
          </a:p>
          <a:p>
            <a:pPr indent="0" lvl="0" marL="342900" rtl="0" algn="l">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pic>
        <p:nvPicPr>
          <p:cNvPr id="84" name="Google Shape;84;p4"/>
          <p:cNvPicPr preferRelativeResize="0"/>
          <p:nvPr/>
        </p:nvPicPr>
        <p:blipFill>
          <a:blip r:embed="rId3">
            <a:alphaModFix/>
          </a:blip>
          <a:stretch>
            <a:fillRect/>
          </a:stretch>
        </p:blipFill>
        <p:spPr>
          <a:xfrm>
            <a:off x="0" y="381000"/>
            <a:ext cx="9144000" cy="609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Times New Roman"/>
                <a:ea typeface="Times New Roman"/>
                <a:cs typeface="Times New Roman"/>
                <a:sym typeface="Times New Roman"/>
              </a:rPr>
              <a:t>WEAT - Measuring Bias</a:t>
            </a:r>
            <a:endParaRPr>
              <a:latin typeface="Times New Roman"/>
              <a:ea typeface="Times New Roman"/>
              <a:cs typeface="Times New Roman"/>
              <a:sym typeface="Times New Roman"/>
            </a:endParaRPr>
          </a:p>
        </p:txBody>
      </p:sp>
      <p:sp>
        <p:nvSpPr>
          <p:cNvPr id="90" name="Google Shape;90;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WEAT: Word Embedding Association Test</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Compare cosine similarity of target words</a:t>
            </a:r>
            <a:endParaRPr>
              <a:latin typeface="Times New Roman"/>
              <a:ea typeface="Times New Roman"/>
              <a:cs typeface="Times New Roman"/>
              <a:sym typeface="Times New Roman"/>
            </a:endParaRPr>
          </a:p>
          <a:p>
            <a:pPr indent="-342900" lvl="0" marL="342900" rtl="0" algn="l">
              <a:spcBef>
                <a:spcPts val="640"/>
              </a:spcBef>
              <a:spcAft>
                <a:spcPts val="120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Professions vs. male/female group words</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Times New Roman"/>
                <a:ea typeface="Times New Roman"/>
                <a:cs typeface="Times New Roman"/>
                <a:sym typeface="Times New Roman"/>
              </a:rPr>
              <a:t>Bias Mitigation Techniques</a:t>
            </a:r>
            <a:endParaRPr>
              <a:latin typeface="Times New Roman"/>
              <a:ea typeface="Times New Roman"/>
              <a:cs typeface="Times New Roman"/>
              <a:sym typeface="Times New Roman"/>
            </a:endParaRPr>
          </a:p>
        </p:txBody>
      </p:sp>
      <p:sp>
        <p:nvSpPr>
          <p:cNvPr id="96" name="Google Shape;96;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Neutralize: remove gender direction from neutral words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Equalize: align explicitly gendered word pairs</a:t>
            </a:r>
            <a:endParaRPr>
              <a:latin typeface="Times New Roman"/>
              <a:ea typeface="Times New Roman"/>
              <a:cs typeface="Times New Roman"/>
              <a:sym typeface="Times New Roman"/>
            </a:endParaRPr>
          </a:p>
          <a:p>
            <a:pPr indent="-342900" lvl="0" marL="342900" rtl="0" algn="l">
              <a:spcBef>
                <a:spcPts val="640"/>
              </a:spcBef>
              <a:spcAft>
                <a:spcPts val="120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Adversarial debiasing: reduce model reliance on bias</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Times New Roman"/>
                <a:ea typeface="Times New Roman"/>
                <a:cs typeface="Times New Roman"/>
                <a:sym typeface="Times New Roman"/>
              </a:rPr>
              <a:t>Case Study: Bias Mitigation in Sentiment Analysis</a:t>
            </a:r>
            <a:endParaRPr>
              <a:latin typeface="Times New Roman"/>
              <a:ea typeface="Times New Roman"/>
              <a:cs typeface="Times New Roman"/>
              <a:sym typeface="Times New Roman"/>
            </a:endParaRPr>
          </a:p>
        </p:txBody>
      </p:sp>
      <p:sp>
        <p:nvSpPr>
          <p:cNvPr id="102" name="Google Shape;102;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Dataset with gender-labeled text</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Applied bias-corrected embeddings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Sentiment analysis using TextBlob</a:t>
            </a:r>
            <a:endParaRPr>
              <a:latin typeface="Times New Roman"/>
              <a:ea typeface="Times New Roman"/>
              <a:cs typeface="Times New Roman"/>
              <a:sym typeface="Times New Roman"/>
            </a:endParaRPr>
          </a:p>
          <a:p>
            <a:pPr indent="-342900" lvl="0" marL="342900" rtl="0" algn="l">
              <a:spcBef>
                <a:spcPts val="640"/>
              </a:spcBef>
              <a:spcAft>
                <a:spcPts val="120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Compared bias pre- and post-mitigation</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6bf9e355b2_1_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latin typeface="Times New Roman"/>
                <a:ea typeface="Times New Roman"/>
                <a:cs typeface="Times New Roman"/>
                <a:sym typeface="Times New Roman"/>
              </a:rPr>
              <a:t>Hands-On Sessions</a:t>
            </a:r>
            <a:endParaRPr>
              <a:latin typeface="Times New Roman"/>
              <a:ea typeface="Times New Roman"/>
              <a:cs typeface="Times New Roman"/>
              <a:sym typeface="Times New Roman"/>
            </a:endParaRPr>
          </a:p>
        </p:txBody>
      </p:sp>
      <p:sp>
        <p:nvSpPr>
          <p:cNvPr id="108" name="Google Shape;108;g36bf9e355b2_1_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US" u="sng">
                <a:solidFill>
                  <a:schemeClr val="hlink"/>
                </a:solidFill>
                <a:hlinkClick r:id="rId3"/>
              </a:rPr>
              <a:t>Combined Bias</a:t>
            </a:r>
            <a:endParaRPr/>
          </a:p>
          <a:p>
            <a:pPr indent="0" lvl="0" marL="0" rtl="0" algn="l">
              <a:spcBef>
                <a:spcPts val="1200"/>
              </a:spcBef>
              <a:spcAft>
                <a:spcPts val="1200"/>
              </a:spcAft>
              <a:buNone/>
            </a:pPr>
            <a:r>
              <a:rPr lang="en-US"/>
              <a:t>2. </a:t>
            </a:r>
            <a:r>
              <a:rPr lang="en-US" u="sng">
                <a:solidFill>
                  <a:schemeClr val="hlink"/>
                </a:solidFill>
                <a:hlinkClick r:id="rId4"/>
              </a:rPr>
              <a:t>Bias Mitigation NLP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